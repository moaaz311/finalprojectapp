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20320000" cy="11430000"/>
  <p:notesSz cx="11430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36" d="100"/>
          <a:sy n="36" d="100"/>
        </p:scale>
        <p:origin x="912" y="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5932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40000" y="1870605"/>
            <a:ext cx="15240000" cy="3979333"/>
          </a:xfrm>
        </p:spPr>
        <p:txBody>
          <a:bodyPr anchor="b"/>
          <a:lstStyle>
            <a:lvl1pPr algn="ctr">
              <a:defRPr sz="10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40000" y="6003397"/>
            <a:ext cx="15240000" cy="2759603"/>
          </a:xfrm>
        </p:spPr>
        <p:txBody>
          <a:bodyPr/>
          <a:lstStyle>
            <a:lvl1pPr marL="0" indent="0" algn="ctr">
              <a:buNone/>
              <a:defRPr sz="4000"/>
            </a:lvl1pPr>
            <a:lvl2pPr marL="762015" indent="0" algn="ctr">
              <a:buNone/>
              <a:defRPr sz="3333"/>
            </a:lvl2pPr>
            <a:lvl3pPr marL="1524030" indent="0" algn="ctr">
              <a:buNone/>
              <a:defRPr sz="3000"/>
            </a:lvl3pPr>
            <a:lvl4pPr marL="2286046" indent="0" algn="ctr">
              <a:buNone/>
              <a:defRPr sz="2667"/>
            </a:lvl4pPr>
            <a:lvl5pPr marL="3048061" indent="0" algn="ctr">
              <a:buNone/>
              <a:defRPr sz="2667"/>
            </a:lvl5pPr>
            <a:lvl6pPr marL="3810076" indent="0" algn="ctr">
              <a:buNone/>
              <a:defRPr sz="2667"/>
            </a:lvl6pPr>
            <a:lvl7pPr marL="4572091" indent="0" algn="ctr">
              <a:buNone/>
              <a:defRPr sz="2667"/>
            </a:lvl7pPr>
            <a:lvl8pPr marL="5334107" indent="0" algn="ctr">
              <a:buNone/>
              <a:defRPr sz="2667"/>
            </a:lvl8pPr>
            <a:lvl9pPr marL="6096122" indent="0" algn="ctr">
              <a:buNone/>
              <a:defRPr sz="266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102904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10520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6417" y="2849564"/>
            <a:ext cx="17526000" cy="4754562"/>
          </a:xfrm>
        </p:spPr>
        <p:txBody>
          <a:bodyPr anchor="b"/>
          <a:lstStyle>
            <a:lvl1pPr>
              <a:defRPr sz="10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6417" y="7649106"/>
            <a:ext cx="17526000" cy="2500312"/>
          </a:xfrm>
        </p:spPr>
        <p:txBody>
          <a:bodyPr/>
          <a:lstStyle>
            <a:lvl1pPr marL="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1pPr>
            <a:lvl2pPr marL="762015" indent="0">
              <a:buNone/>
              <a:defRPr sz="3333">
                <a:solidFill>
                  <a:schemeClr val="tx1">
                    <a:tint val="75000"/>
                  </a:schemeClr>
                </a:solidFill>
              </a:defRPr>
            </a:lvl2pPr>
            <a:lvl3pPr marL="152403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3pPr>
            <a:lvl4pPr marL="2286046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4pPr>
            <a:lvl5pPr marL="3048061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5pPr>
            <a:lvl6pPr marL="3810076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6pPr>
            <a:lvl7pPr marL="4572091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7pPr>
            <a:lvl8pPr marL="5334107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8pPr>
            <a:lvl9pPr marL="6096122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04705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97000" y="3042708"/>
            <a:ext cx="8636000" cy="72522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87000" y="3042708"/>
            <a:ext cx="8636000" cy="72522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77422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9647" y="608542"/>
            <a:ext cx="17526000" cy="22092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99647" y="2801938"/>
            <a:ext cx="8596312" cy="1373187"/>
          </a:xfrm>
        </p:spPr>
        <p:txBody>
          <a:bodyPr anchor="b"/>
          <a:lstStyle>
            <a:lvl1pPr marL="0" indent="0">
              <a:buNone/>
              <a:defRPr sz="4000" b="1"/>
            </a:lvl1pPr>
            <a:lvl2pPr marL="762015" indent="0">
              <a:buNone/>
              <a:defRPr sz="3333" b="1"/>
            </a:lvl2pPr>
            <a:lvl3pPr marL="1524030" indent="0">
              <a:buNone/>
              <a:defRPr sz="3000" b="1"/>
            </a:lvl3pPr>
            <a:lvl4pPr marL="2286046" indent="0">
              <a:buNone/>
              <a:defRPr sz="2667" b="1"/>
            </a:lvl4pPr>
            <a:lvl5pPr marL="3048061" indent="0">
              <a:buNone/>
              <a:defRPr sz="2667" b="1"/>
            </a:lvl5pPr>
            <a:lvl6pPr marL="3810076" indent="0">
              <a:buNone/>
              <a:defRPr sz="2667" b="1"/>
            </a:lvl6pPr>
            <a:lvl7pPr marL="4572091" indent="0">
              <a:buNone/>
              <a:defRPr sz="2667" b="1"/>
            </a:lvl7pPr>
            <a:lvl8pPr marL="5334107" indent="0">
              <a:buNone/>
              <a:defRPr sz="2667" b="1"/>
            </a:lvl8pPr>
            <a:lvl9pPr marL="6096122" indent="0">
              <a:buNone/>
              <a:defRPr sz="26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99647" y="4175125"/>
            <a:ext cx="8596312" cy="61409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287000" y="2801938"/>
            <a:ext cx="8638647" cy="1373187"/>
          </a:xfrm>
        </p:spPr>
        <p:txBody>
          <a:bodyPr anchor="b"/>
          <a:lstStyle>
            <a:lvl1pPr marL="0" indent="0">
              <a:buNone/>
              <a:defRPr sz="4000" b="1"/>
            </a:lvl1pPr>
            <a:lvl2pPr marL="762015" indent="0">
              <a:buNone/>
              <a:defRPr sz="3333" b="1"/>
            </a:lvl2pPr>
            <a:lvl3pPr marL="1524030" indent="0">
              <a:buNone/>
              <a:defRPr sz="3000" b="1"/>
            </a:lvl3pPr>
            <a:lvl4pPr marL="2286046" indent="0">
              <a:buNone/>
              <a:defRPr sz="2667" b="1"/>
            </a:lvl4pPr>
            <a:lvl5pPr marL="3048061" indent="0">
              <a:buNone/>
              <a:defRPr sz="2667" b="1"/>
            </a:lvl5pPr>
            <a:lvl6pPr marL="3810076" indent="0">
              <a:buNone/>
              <a:defRPr sz="2667" b="1"/>
            </a:lvl6pPr>
            <a:lvl7pPr marL="4572091" indent="0">
              <a:buNone/>
              <a:defRPr sz="2667" b="1"/>
            </a:lvl7pPr>
            <a:lvl8pPr marL="5334107" indent="0">
              <a:buNone/>
              <a:defRPr sz="2667" b="1"/>
            </a:lvl8pPr>
            <a:lvl9pPr marL="6096122" indent="0">
              <a:buNone/>
              <a:defRPr sz="26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287000" y="4175125"/>
            <a:ext cx="8638647" cy="61409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9119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65128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57140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9648" y="762000"/>
            <a:ext cx="6553728" cy="2667000"/>
          </a:xfrm>
        </p:spPr>
        <p:txBody>
          <a:bodyPr anchor="b"/>
          <a:lstStyle>
            <a:lvl1pPr>
              <a:defRPr sz="53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38647" y="1645709"/>
            <a:ext cx="10287000" cy="8122708"/>
          </a:xfrm>
        </p:spPr>
        <p:txBody>
          <a:bodyPr/>
          <a:lstStyle>
            <a:lvl1pPr>
              <a:defRPr sz="5333"/>
            </a:lvl1pPr>
            <a:lvl2pPr>
              <a:defRPr sz="4667"/>
            </a:lvl2pPr>
            <a:lvl3pPr>
              <a:defRPr sz="4000"/>
            </a:lvl3pPr>
            <a:lvl4pPr>
              <a:defRPr sz="3333"/>
            </a:lvl4pPr>
            <a:lvl5pPr>
              <a:defRPr sz="3333"/>
            </a:lvl5pPr>
            <a:lvl6pPr>
              <a:defRPr sz="3333"/>
            </a:lvl6pPr>
            <a:lvl7pPr>
              <a:defRPr sz="3333"/>
            </a:lvl7pPr>
            <a:lvl8pPr>
              <a:defRPr sz="3333"/>
            </a:lvl8pPr>
            <a:lvl9pPr>
              <a:defRPr sz="3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99648" y="3429000"/>
            <a:ext cx="6553728" cy="6352647"/>
          </a:xfrm>
        </p:spPr>
        <p:txBody>
          <a:bodyPr/>
          <a:lstStyle>
            <a:lvl1pPr marL="0" indent="0">
              <a:buNone/>
              <a:defRPr sz="2667"/>
            </a:lvl1pPr>
            <a:lvl2pPr marL="762015" indent="0">
              <a:buNone/>
              <a:defRPr sz="2333"/>
            </a:lvl2pPr>
            <a:lvl3pPr marL="1524030" indent="0">
              <a:buNone/>
              <a:defRPr sz="2000"/>
            </a:lvl3pPr>
            <a:lvl4pPr marL="2286046" indent="0">
              <a:buNone/>
              <a:defRPr sz="1667"/>
            </a:lvl4pPr>
            <a:lvl5pPr marL="3048061" indent="0">
              <a:buNone/>
              <a:defRPr sz="1667"/>
            </a:lvl5pPr>
            <a:lvl6pPr marL="3810076" indent="0">
              <a:buNone/>
              <a:defRPr sz="1667"/>
            </a:lvl6pPr>
            <a:lvl7pPr marL="4572091" indent="0">
              <a:buNone/>
              <a:defRPr sz="1667"/>
            </a:lvl7pPr>
            <a:lvl8pPr marL="5334107" indent="0">
              <a:buNone/>
              <a:defRPr sz="1667"/>
            </a:lvl8pPr>
            <a:lvl9pPr marL="6096122" indent="0">
              <a:buNone/>
              <a:defRPr sz="1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59741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9648" y="762000"/>
            <a:ext cx="6553728" cy="2667000"/>
          </a:xfrm>
        </p:spPr>
        <p:txBody>
          <a:bodyPr anchor="b"/>
          <a:lstStyle>
            <a:lvl1pPr>
              <a:defRPr sz="53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38647" y="1645709"/>
            <a:ext cx="10287000" cy="8122708"/>
          </a:xfrm>
        </p:spPr>
        <p:txBody>
          <a:bodyPr anchor="t"/>
          <a:lstStyle>
            <a:lvl1pPr marL="0" indent="0">
              <a:buNone/>
              <a:defRPr sz="5333"/>
            </a:lvl1pPr>
            <a:lvl2pPr marL="762015" indent="0">
              <a:buNone/>
              <a:defRPr sz="4667"/>
            </a:lvl2pPr>
            <a:lvl3pPr marL="1524030" indent="0">
              <a:buNone/>
              <a:defRPr sz="4000"/>
            </a:lvl3pPr>
            <a:lvl4pPr marL="2286046" indent="0">
              <a:buNone/>
              <a:defRPr sz="3333"/>
            </a:lvl4pPr>
            <a:lvl5pPr marL="3048061" indent="0">
              <a:buNone/>
              <a:defRPr sz="3333"/>
            </a:lvl5pPr>
            <a:lvl6pPr marL="3810076" indent="0">
              <a:buNone/>
              <a:defRPr sz="3333"/>
            </a:lvl6pPr>
            <a:lvl7pPr marL="4572091" indent="0">
              <a:buNone/>
              <a:defRPr sz="3333"/>
            </a:lvl7pPr>
            <a:lvl8pPr marL="5334107" indent="0">
              <a:buNone/>
              <a:defRPr sz="3333"/>
            </a:lvl8pPr>
            <a:lvl9pPr marL="6096122" indent="0">
              <a:buNone/>
              <a:defRPr sz="33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99648" y="3429000"/>
            <a:ext cx="6553728" cy="6352647"/>
          </a:xfrm>
        </p:spPr>
        <p:txBody>
          <a:bodyPr/>
          <a:lstStyle>
            <a:lvl1pPr marL="0" indent="0">
              <a:buNone/>
              <a:defRPr sz="2667"/>
            </a:lvl1pPr>
            <a:lvl2pPr marL="762015" indent="0">
              <a:buNone/>
              <a:defRPr sz="2333"/>
            </a:lvl2pPr>
            <a:lvl3pPr marL="1524030" indent="0">
              <a:buNone/>
              <a:defRPr sz="2000"/>
            </a:lvl3pPr>
            <a:lvl4pPr marL="2286046" indent="0">
              <a:buNone/>
              <a:defRPr sz="1667"/>
            </a:lvl4pPr>
            <a:lvl5pPr marL="3048061" indent="0">
              <a:buNone/>
              <a:defRPr sz="1667"/>
            </a:lvl5pPr>
            <a:lvl6pPr marL="3810076" indent="0">
              <a:buNone/>
              <a:defRPr sz="1667"/>
            </a:lvl6pPr>
            <a:lvl7pPr marL="4572091" indent="0">
              <a:buNone/>
              <a:defRPr sz="1667"/>
            </a:lvl7pPr>
            <a:lvl8pPr marL="5334107" indent="0">
              <a:buNone/>
              <a:defRPr sz="1667"/>
            </a:lvl8pPr>
            <a:lvl9pPr marL="6096122" indent="0">
              <a:buNone/>
              <a:defRPr sz="1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48210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77340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541500" y="608542"/>
            <a:ext cx="4381500" cy="96863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97000" y="608542"/>
            <a:ext cx="12890500" cy="96863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18847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4945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97000" y="608542"/>
            <a:ext cx="17526000" cy="22092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97000" y="3042708"/>
            <a:ext cx="17526000" cy="72522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7000" y="10593917"/>
            <a:ext cx="4572000" cy="608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31000" y="10593917"/>
            <a:ext cx="6858000" cy="608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351000" y="10593917"/>
            <a:ext cx="4572000" cy="608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637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</p:sldLayoutIdLst>
  <p:hf sldNum="0" hdr="0" ftr="0" dt="0"/>
  <p:txStyles>
    <p:titleStyle>
      <a:lvl1pPr algn="l" defTabSz="1524030" rtl="0" eaLnBrk="1" latinLnBrk="0" hangingPunct="1">
        <a:lnSpc>
          <a:spcPct val="90000"/>
        </a:lnSpc>
        <a:spcBef>
          <a:spcPct val="0"/>
        </a:spcBef>
        <a:buNone/>
        <a:defRPr sz="73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1008" indent="-381008" algn="l" defTabSz="1524030" rtl="0" eaLnBrk="1" latinLnBrk="0" hangingPunct="1">
        <a:lnSpc>
          <a:spcPct val="90000"/>
        </a:lnSpc>
        <a:spcBef>
          <a:spcPts val="1667"/>
        </a:spcBef>
        <a:buFont typeface="Arial" panose="020B0604020202020204" pitchFamily="34" charset="0"/>
        <a:buChar char="•"/>
        <a:defRPr sz="4667" kern="1200">
          <a:solidFill>
            <a:schemeClr val="tx1"/>
          </a:solidFill>
          <a:latin typeface="+mn-lt"/>
          <a:ea typeface="+mn-ea"/>
          <a:cs typeface="+mn-cs"/>
        </a:defRPr>
      </a:lvl1pPr>
      <a:lvl2pPr marL="1143023" indent="-381008" algn="l" defTabSz="1524030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2pPr>
      <a:lvl3pPr marL="1905038" indent="-381008" algn="l" defTabSz="1524030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333" kern="1200">
          <a:solidFill>
            <a:schemeClr val="tx1"/>
          </a:solidFill>
          <a:latin typeface="+mn-lt"/>
          <a:ea typeface="+mn-ea"/>
          <a:cs typeface="+mn-cs"/>
        </a:defRPr>
      </a:lvl3pPr>
      <a:lvl4pPr marL="2667053" indent="-381008" algn="l" defTabSz="1524030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3429069" indent="-381008" algn="l" defTabSz="1524030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4191084" indent="-381008" algn="l" defTabSz="1524030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953099" indent="-381008" algn="l" defTabSz="1524030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715114" indent="-381008" algn="l" defTabSz="1524030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6477130" indent="-381008" algn="l" defTabSz="1524030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2403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62015" algn="l" defTabSz="152403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30" algn="l" defTabSz="152403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286046" algn="l" defTabSz="152403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3048061" algn="l" defTabSz="152403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3810076" algn="l" defTabSz="152403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572091" algn="l" defTabSz="152403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334107" algn="l" defTabSz="152403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6096122" algn="l" defTabSz="152403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28080" y="96012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100" b="1" dirty="0">
                <a:solidFill>
                  <a:srgbClr val="F8FAFC"/>
                </a:solidFill>
              </a:rPr>
              <a:t>Power BI Report Update Notification Automation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246368" y="23317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CBD5E1"/>
                </a:solidFill>
              </a:rPr>
              <a:t>Dynamic subscribers, SharePoint source of truth, and automated update emails.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246368" y="3749040"/>
            <a:ext cx="365760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r>
              <a:rPr lang="en-US" sz="1150" b="1" dirty="0">
                <a:solidFill>
                  <a:srgbClr val="0EA5E9"/>
                </a:solidFill>
              </a:rPr>
              <a:t>No hardcoded emails</a:t>
            </a:r>
            <a:endParaRPr lang="en-US" sz="1150" dirty="0"/>
          </a:p>
          <a:p>
            <a:r>
              <a:rPr lang="en-US" sz="1150" dirty="0">
                <a:solidFill>
                  <a:srgbClr val="CBD5E1"/>
                </a:solidFill>
              </a:rPr>
              <a:t>Recipients now come from SharePoint.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0342880" y="3749040"/>
            <a:ext cx="374904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r>
              <a:rPr lang="en-US" sz="1150" b="1" dirty="0">
                <a:solidFill>
                  <a:srgbClr val="F97316"/>
                </a:solidFill>
              </a:rPr>
              <a:t>2 connected flows</a:t>
            </a:r>
            <a:endParaRPr lang="en-US" sz="1150" dirty="0"/>
          </a:p>
          <a:p>
            <a:r>
              <a:rPr lang="en-US" sz="1150" dirty="0">
                <a:solidFill>
                  <a:srgbClr val="CBD5E1"/>
                </a:solidFill>
              </a:rPr>
              <a:t>Subscriber capture + report update notification.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919720" y="6720840"/>
            <a:ext cx="457200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342880" y="6720840"/>
            <a:ext cx="457200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2446000" y="6720840"/>
            <a:ext cx="457200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10960" y="6400800"/>
            <a:ext cx="1508760" cy="6400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</a:rPr>
              <a:t>Web App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8376920" y="6400800"/>
            <a:ext cx="1965960" cy="6400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</a:rPr>
              <a:t>Power Automate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10800080" y="6400800"/>
            <a:ext cx="1645920" cy="6400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</a:rPr>
              <a:t>SharePoint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12903200" y="6400800"/>
            <a:ext cx="1097280" cy="6400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</a:rPr>
              <a:t>Outlook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6228080" y="1231011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94A3B8"/>
                </a:solidFill>
              </a:rPr>
              <a:t>Power Automate + SharePoint + Power BI  |  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82360" y="-92583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FB923C"/>
                </a:solidFill>
              </a:rPr>
              <a:t>BEFORE THE UPDATE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82360" y="841248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600" b="1" dirty="0">
                <a:solidFill>
                  <a:srgbClr val="F8FAFC"/>
                </a:solidFill>
              </a:rPr>
              <a:t>The problem: fixed recipients created noise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28080" y="1231011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94A3B8"/>
                </a:solidFill>
              </a:rPr>
              <a:t>Power Automate + SharePoint + Power BI  |  2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919720" y="2697480"/>
            <a:ext cx="457200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114280" y="2697480"/>
            <a:ext cx="457200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2400280" y="2697480"/>
            <a:ext cx="457200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73800" y="2377440"/>
            <a:ext cx="1645920" cy="6400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</a:rPr>
              <a:t>Daily Flow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8376920" y="2377440"/>
            <a:ext cx="1737360" cy="6400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</a:rPr>
              <a:t>Report Check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10571480" y="2377440"/>
            <a:ext cx="1828800" cy="6400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</a:rPr>
              <a:t>Static Email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12857480" y="2377440"/>
            <a:ext cx="1188720" cy="64008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</a:rPr>
              <a:t>Inbox Noise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6319520" y="40233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F8FAFC"/>
                </a:solidFill>
              </a:rPr>
              <a:t>Old flow behavior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10960" y="4617720"/>
            <a:ext cx="74980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330" dirty="0">
                <a:solidFill>
                  <a:srgbClr val="CBD5E1"/>
                </a:solidFill>
              </a:rPr>
              <a:t>• Email recipients were fixed inside the Outlook action.</a:t>
            </a:r>
            <a:endParaRPr lang="en-US" sz="1330" dirty="0"/>
          </a:p>
        </p:txBody>
      </p:sp>
      <p:sp>
        <p:nvSpPr>
          <p:cNvPr id="14" name="Text 12"/>
          <p:cNvSpPr/>
          <p:nvPr/>
        </p:nvSpPr>
        <p:spPr>
          <a:xfrm>
            <a:off x="6410960" y="5166360"/>
            <a:ext cx="74980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330" dirty="0">
                <a:solidFill>
                  <a:srgbClr val="CBD5E1"/>
                </a:solidFill>
              </a:rPr>
              <a:t>• Users could not opt in or opt out from the web app.</a:t>
            </a:r>
            <a:endParaRPr lang="en-US" sz="1330" dirty="0"/>
          </a:p>
        </p:txBody>
      </p:sp>
      <p:sp>
        <p:nvSpPr>
          <p:cNvPr id="15" name="Text 13"/>
          <p:cNvSpPr/>
          <p:nvPr/>
        </p:nvSpPr>
        <p:spPr>
          <a:xfrm>
            <a:off x="6410960" y="5715000"/>
            <a:ext cx="74980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330" dirty="0">
                <a:solidFill>
                  <a:srgbClr val="CBD5E1"/>
                </a:solidFill>
              </a:rPr>
              <a:t>• Frequent checks risked repeated notifications and noisy inboxes.</a:t>
            </a:r>
            <a:endParaRPr lang="en-US" sz="1330" dirty="0"/>
          </a:p>
        </p:txBody>
      </p:sp>
      <p:sp>
        <p:nvSpPr>
          <p:cNvPr id="16" name="Text 14"/>
          <p:cNvSpPr/>
          <p:nvPr/>
        </p:nvSpPr>
        <p:spPr>
          <a:xfrm>
            <a:off x="6410960" y="6263640"/>
            <a:ext cx="74980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330" dirty="0">
                <a:solidFill>
                  <a:srgbClr val="CBD5E1"/>
                </a:solidFill>
              </a:rPr>
              <a:t>• The flow was hard to explain because action names were generic.</a:t>
            </a:r>
            <a:endParaRPr lang="en-US" sz="1330" dirty="0"/>
          </a:p>
        </p:txBody>
      </p:sp>
      <p:sp>
        <p:nvSpPr>
          <p:cNvPr id="17" name="Text 15"/>
          <p:cNvSpPr/>
          <p:nvPr/>
        </p:nvSpPr>
        <p:spPr>
          <a:xfrm>
            <a:off x="6410960" y="7680960"/>
            <a:ext cx="749808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r>
              <a:rPr lang="en-US" sz="1150" b="1" dirty="0">
                <a:solidFill>
                  <a:srgbClr val="F97316"/>
                </a:solidFill>
              </a:rPr>
              <a:t>Goal</a:t>
            </a:r>
            <a:endParaRPr lang="en-US" sz="1150" dirty="0"/>
          </a:p>
          <a:p>
            <a:r>
              <a:rPr lang="en-US" sz="1150" dirty="0">
                <a:solidFill>
                  <a:srgbClr val="CBD5E1"/>
                </a:solidFill>
              </a:rPr>
              <a:t>Make notifications subscription-based and readable for review.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67560" y="-92583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FB923C"/>
                </a:solidFill>
              </a:rPr>
              <a:t>SOLUTION OVERVIEW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902148" y="155446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600" b="1" dirty="0">
                <a:solidFill>
                  <a:srgbClr val="F8FAFC"/>
                </a:solidFill>
              </a:rPr>
              <a:t>The new architecture: user-driven notifications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113280" y="1231011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94A3B8"/>
                </a:solidFill>
              </a:rPr>
              <a:t>Power Automate + SharePoint + Power BI  |  3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067560" y="2163111"/>
            <a:ext cx="822960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82160" y="2163111"/>
            <a:ext cx="822960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13880" y="2163111"/>
            <a:ext cx="822960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04520" y="1614471"/>
            <a:ext cx="1463040" cy="105156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</a:rPr>
              <a:t>Flask Web App</a:t>
            </a:r>
            <a:endParaRPr lang="en-US" sz="1120" dirty="0"/>
          </a:p>
          <a:p>
            <a:pPr algn="ctr"/>
            <a:r>
              <a:rPr lang="en-US" sz="1120" b="1" dirty="0">
                <a:solidFill>
                  <a:srgbClr val="FFFFFF"/>
                </a:solidFill>
              </a:rPr>
              <a:t>Opt in / out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2890520" y="1614471"/>
            <a:ext cx="1691640" cy="10515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</a:rPr>
              <a:t>Subscriber Flow</a:t>
            </a:r>
            <a:endParaRPr lang="en-US" sz="1120" dirty="0"/>
          </a:p>
          <a:p>
            <a:pPr algn="ctr"/>
            <a:r>
              <a:rPr lang="en-US" sz="1120" b="1" dirty="0">
                <a:solidFill>
                  <a:srgbClr val="FFFFFF"/>
                </a:solidFill>
              </a:rPr>
              <a:t>HTTP Trigger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5405120" y="1614471"/>
            <a:ext cx="1508760" cy="10515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</a:rPr>
              <a:t>ReportSubscribers</a:t>
            </a:r>
            <a:endParaRPr lang="en-US" sz="1120" dirty="0"/>
          </a:p>
          <a:p>
            <a:pPr algn="ctr"/>
            <a:r>
              <a:rPr lang="en-US" sz="1120" b="1" dirty="0">
                <a:solidFill>
                  <a:srgbClr val="FFFFFF"/>
                </a:solidFill>
              </a:rPr>
              <a:t>SharePoint List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7736840" y="1614471"/>
            <a:ext cx="1876880" cy="10515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</a:rPr>
              <a:t>Daily Update</a:t>
            </a:r>
            <a:endParaRPr lang="en-US" sz="1120" dirty="0"/>
          </a:p>
          <a:p>
            <a:pPr algn="ctr"/>
            <a:r>
              <a:rPr lang="en-US" sz="1120" b="1" dirty="0">
                <a:solidFill>
                  <a:srgbClr val="FFFFFF"/>
                </a:solidFill>
              </a:rPr>
              <a:t>Flow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993588" y="37105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8FAFC"/>
                </a:solidFill>
              </a:rPr>
              <a:t>Two flows, one subscriber source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30748" y="4304908"/>
            <a:ext cx="74066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330" dirty="0">
                <a:solidFill>
                  <a:srgbClr val="CBD5E1"/>
                </a:solidFill>
              </a:rPr>
              <a:t>1. Subscriber registration flow receives email preferences from the web app.</a:t>
            </a:r>
            <a:endParaRPr lang="en-US" sz="1330" dirty="0"/>
          </a:p>
        </p:txBody>
      </p:sp>
      <p:sp>
        <p:nvSpPr>
          <p:cNvPr id="14" name="Text 12"/>
          <p:cNvSpPr/>
          <p:nvPr/>
        </p:nvSpPr>
        <p:spPr>
          <a:xfrm>
            <a:off x="1130748" y="4853548"/>
            <a:ext cx="74066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330" dirty="0">
                <a:solidFill>
                  <a:srgbClr val="CBD5E1"/>
                </a:solidFill>
              </a:rPr>
              <a:t>2. Daily report-update flow reads active subscribers before sending notifications.</a:t>
            </a:r>
            <a:endParaRPr lang="en-US" sz="1330" dirty="0"/>
          </a:p>
        </p:txBody>
      </p:sp>
      <p:sp>
        <p:nvSpPr>
          <p:cNvPr id="15" name="Text 13"/>
          <p:cNvSpPr/>
          <p:nvPr/>
        </p:nvSpPr>
        <p:spPr>
          <a:xfrm>
            <a:off x="1130748" y="5402188"/>
            <a:ext cx="74066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330" dirty="0">
                <a:solidFill>
                  <a:srgbClr val="CBD5E1"/>
                </a:solidFill>
              </a:rPr>
              <a:t>3. SharePoint becomes the single source of truth for notification recipients.</a:t>
            </a:r>
            <a:endParaRPr lang="en-US" sz="133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B5E5A68-4662-05E1-0AED-9AD5ABACA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680" y="1326776"/>
            <a:ext cx="9794868" cy="92515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82360" y="-92583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FB923C"/>
                </a:solidFill>
              </a:rPr>
              <a:t>FRONT-END UPDATE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2976281" y="841248"/>
            <a:ext cx="1339327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600" b="1" dirty="0">
                <a:solidFill>
                  <a:srgbClr val="F8FAFC"/>
                </a:solidFill>
              </a:rPr>
              <a:t>Web app: users control their notification preference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28080" y="1231011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94A3B8"/>
                </a:solidFill>
              </a:rPr>
              <a:t>Power Automate + SharePoint + Power BI  |  4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1615888" y="7172582"/>
            <a:ext cx="6726816" cy="14273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txBody>
          <a:bodyPr wrap="square" lIns="2032" tIns="2032" rIns="2032" bIns="2032" rtlCol="0" anchor="ctr">
            <a:noAutofit/>
          </a:bodyPr>
          <a:lstStyle/>
          <a:p>
            <a:r>
              <a:rPr lang="en-US" sz="3200" b="1" dirty="0">
                <a:solidFill>
                  <a:srgbClr val="22C55E"/>
                </a:solidFill>
              </a:rPr>
              <a:t>Subscribe</a:t>
            </a:r>
            <a:endParaRPr lang="en-US" sz="3200" dirty="0"/>
          </a:p>
          <a:p>
            <a:r>
              <a:rPr lang="en-US" sz="3200" dirty="0">
                <a:solidFill>
                  <a:srgbClr val="CBD5E1"/>
                </a:solidFill>
              </a:rPr>
              <a:t>Checkbox checked → IsActive = true in SharePoint.</a:t>
            </a:r>
            <a:endParaRPr lang="en-US" sz="3200" dirty="0"/>
          </a:p>
        </p:txBody>
      </p:sp>
      <p:sp>
        <p:nvSpPr>
          <p:cNvPr id="8" name="Text 4"/>
          <p:cNvSpPr/>
          <p:nvPr/>
        </p:nvSpPr>
        <p:spPr>
          <a:xfrm>
            <a:off x="10374256" y="7065922"/>
            <a:ext cx="6210449" cy="1640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r>
              <a:rPr lang="en-US" sz="3200" b="1" dirty="0">
                <a:solidFill>
                  <a:srgbClr val="F97316"/>
                </a:solidFill>
              </a:rPr>
              <a:t>Unsubscribe</a:t>
            </a:r>
            <a:endParaRPr lang="en-US" sz="3200" b="1" dirty="0"/>
          </a:p>
          <a:p>
            <a:r>
              <a:rPr lang="en-US" sz="3200" b="1" dirty="0">
                <a:solidFill>
                  <a:srgbClr val="CBD5E1"/>
                </a:solidFill>
              </a:rPr>
              <a:t>Checkbox unchecked → IsActive = false in SharePoint.</a:t>
            </a:r>
            <a:endParaRPr lang="en-US" sz="3200" b="1" dirty="0"/>
          </a:p>
        </p:txBody>
      </p:sp>
      <p:sp>
        <p:nvSpPr>
          <p:cNvPr id="9" name="Text 5"/>
          <p:cNvSpPr/>
          <p:nvPr/>
        </p:nvSpPr>
        <p:spPr>
          <a:xfrm>
            <a:off x="6365240" y="918972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7989105-6D23-6C32-8B61-8FBBE1F6B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536" y="1596709"/>
            <a:ext cx="7589520" cy="503717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3C1B14D-ADD3-F9D3-2B6A-CBBBEB65CC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9920" y="1596709"/>
            <a:ext cx="7263799" cy="518585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82360" y="-92583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FB923C"/>
                </a:solidFill>
              </a:rPr>
              <a:t>DATA LAYER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82360" y="841248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600" b="1" dirty="0">
                <a:solidFill>
                  <a:srgbClr val="F8FAFC"/>
                </a:solidFill>
              </a:rPr>
              <a:t>SharePoint List: dynamic audience management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28080" y="1231011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94A3B8"/>
                </a:solidFill>
              </a:rPr>
              <a:t>Power Automate + SharePoint + Power BI  |  5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565562" y="550213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8FAFC"/>
                </a:solidFill>
              </a:rPr>
              <a:t>ReportSubscribers schema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3657002" y="6142212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B923C"/>
                </a:solidFill>
              </a:rPr>
              <a:t>Email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485802" y="6142212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CBD5E1"/>
                </a:solidFill>
              </a:rPr>
              <a:t>Recipient address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3657002" y="661770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22C55E"/>
                </a:solidFill>
              </a:rPr>
              <a:t>IsActive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485802" y="6617700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CBD5E1"/>
                </a:solidFill>
              </a:rPr>
              <a:t>Opt-in / opt-out flag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3657002" y="7093188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B923C"/>
                </a:solidFill>
              </a:rPr>
              <a:t>Reports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5485802" y="7093188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CBD5E1"/>
                </a:solidFill>
              </a:rPr>
              <a:t>Scope of interest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3382682" y="8217899"/>
            <a:ext cx="740664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r>
              <a:rPr lang="en-US" sz="2400" b="1" dirty="0">
                <a:solidFill>
                  <a:srgbClr val="0EA5E9"/>
                </a:solidFill>
              </a:rPr>
              <a:t>No fixed recipients</a:t>
            </a:r>
            <a:endParaRPr lang="en-US" sz="2400" dirty="0"/>
          </a:p>
          <a:p>
            <a:r>
              <a:rPr lang="en-US" sz="2400" dirty="0">
                <a:solidFill>
                  <a:srgbClr val="CBD5E1"/>
                </a:solidFill>
              </a:rPr>
              <a:t>The email list is generated at runtime from SharePoint.</a:t>
            </a:r>
            <a:endParaRPr lang="en-US" sz="24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3159C45-B338-8087-117E-1CB34A5995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888" r="45741"/>
          <a:stretch>
            <a:fillRect/>
          </a:stretch>
        </p:blipFill>
        <p:spPr>
          <a:xfrm>
            <a:off x="3496235" y="2103123"/>
            <a:ext cx="12263718" cy="2615183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82360" y="-92583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FB923C"/>
                </a:solidFill>
              </a:rPr>
              <a:t>POWER AUTOMATE FLOW 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82360" y="841248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600" b="1" dirty="0">
                <a:solidFill>
                  <a:srgbClr val="F8FAFC"/>
                </a:solidFill>
              </a:rPr>
              <a:t>New flow: save web app email preferences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28080" y="1231011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94A3B8"/>
                </a:solidFill>
              </a:rPr>
              <a:t>Power Automate + SharePoint + Power BI  |  6</a:t>
            </a:r>
            <a:endParaRPr lang="en-US" sz="850" dirty="0"/>
          </a:p>
        </p:txBody>
      </p:sp>
      <p:pic>
        <p:nvPicPr>
          <p:cNvPr id="5" name="Image 0" descr="/mnt/data/b0831162-cb78-42f6-b169-a8bacb7e6a51.png"/>
          <p:cNvPicPr>
            <a:picLocks noChangeAspect="1"/>
          </p:cNvPicPr>
          <p:nvPr/>
        </p:nvPicPr>
        <p:blipFill>
          <a:blip r:embed="rId3"/>
          <a:srcRect l="10000" r="-50532"/>
          <a:stretch/>
        </p:blipFill>
        <p:spPr>
          <a:xfrm>
            <a:off x="8042536" y="1968202"/>
            <a:ext cx="15014388" cy="86205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7336" y="1990389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F8FAFC"/>
                </a:solidFill>
              </a:rPr>
              <a:t>Logic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4496" y="2539029"/>
            <a:ext cx="74066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70" dirty="0">
                <a:solidFill>
                  <a:srgbClr val="CBD5E1"/>
                </a:solidFill>
              </a:rPr>
              <a:t>• Receives POST payload from Flask web app: email, isActive, reports, source.</a:t>
            </a:r>
            <a:endParaRPr lang="en-US" sz="1270" dirty="0"/>
          </a:p>
        </p:txBody>
      </p:sp>
      <p:sp>
        <p:nvSpPr>
          <p:cNvPr id="8" name="Text 5"/>
          <p:cNvSpPr/>
          <p:nvPr/>
        </p:nvSpPr>
        <p:spPr>
          <a:xfrm>
            <a:off x="864496" y="3041949"/>
            <a:ext cx="74066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70" dirty="0">
                <a:solidFill>
                  <a:srgbClr val="CBD5E1"/>
                </a:solidFill>
              </a:rPr>
              <a:t>• Searches SharePoint by Email to avoid duplicates.</a:t>
            </a:r>
            <a:endParaRPr lang="en-US" sz="1270" dirty="0"/>
          </a:p>
        </p:txBody>
      </p:sp>
      <p:sp>
        <p:nvSpPr>
          <p:cNvPr id="9" name="Text 6"/>
          <p:cNvSpPr/>
          <p:nvPr/>
        </p:nvSpPr>
        <p:spPr>
          <a:xfrm>
            <a:off x="864496" y="3544869"/>
            <a:ext cx="74066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70" dirty="0">
                <a:solidFill>
                  <a:srgbClr val="CBD5E1"/>
                </a:solidFill>
              </a:rPr>
              <a:t>• Creates a new record or updates the existing preference.</a:t>
            </a:r>
            <a:endParaRPr lang="en-US" sz="1270" dirty="0"/>
          </a:p>
        </p:txBody>
      </p:sp>
      <p:sp>
        <p:nvSpPr>
          <p:cNvPr id="10" name="Text 7"/>
          <p:cNvSpPr/>
          <p:nvPr/>
        </p:nvSpPr>
        <p:spPr>
          <a:xfrm>
            <a:off x="864496" y="4047789"/>
            <a:ext cx="74066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70" dirty="0">
                <a:solidFill>
                  <a:srgbClr val="CBD5E1"/>
                </a:solidFill>
              </a:rPr>
              <a:t>• Returns a clean response to the web app.</a:t>
            </a:r>
            <a:endParaRPr lang="en-US" sz="12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82360" y="-92583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FB923C"/>
                </a:solidFill>
              </a:rPr>
              <a:t>POWER AUTOMATE FLOW 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82360" y="841248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600" b="1" dirty="0">
                <a:solidFill>
                  <a:srgbClr val="F8FAFC"/>
                </a:solidFill>
              </a:rPr>
              <a:t>Updated flow: build the subscriber list dynamically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28080" y="1231011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94A3B8"/>
                </a:solidFill>
              </a:rPr>
              <a:t>Power Automate + SharePoint + Power BI  |  7</a:t>
            </a:r>
            <a:endParaRPr lang="en-US" sz="850" dirty="0"/>
          </a:p>
        </p:txBody>
      </p:sp>
      <p:pic>
        <p:nvPicPr>
          <p:cNvPr id="5" name="Image 0" descr="/mnt/data/46743499-ba85-43e9-9c58-c63ec9c22c62.png"/>
          <p:cNvPicPr>
            <a:picLocks noChangeAspect="1"/>
          </p:cNvPicPr>
          <p:nvPr/>
        </p:nvPicPr>
        <p:blipFill>
          <a:blip r:embed="rId3"/>
          <a:srcRect l="33890" t="2469" r="19705" b="-1122"/>
          <a:stretch>
            <a:fillRect/>
          </a:stretch>
        </p:blipFill>
        <p:spPr>
          <a:xfrm>
            <a:off x="8363324" y="2020951"/>
            <a:ext cx="9548158" cy="88084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0964" y="1813977"/>
            <a:ext cx="7315200" cy="1673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F8FAFC"/>
                </a:solidFill>
              </a:rPr>
              <a:t>What changed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048124" y="2362617"/>
            <a:ext cx="7315200" cy="20082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70" dirty="0">
                <a:solidFill>
                  <a:srgbClr val="CBD5E1"/>
                </a:solidFill>
              </a:rPr>
              <a:t>• Reads active subscribers from SharePoint before checking reports.</a:t>
            </a:r>
            <a:endParaRPr lang="en-US" sz="1270" dirty="0"/>
          </a:p>
        </p:txBody>
      </p:sp>
      <p:sp>
        <p:nvSpPr>
          <p:cNvPr id="8" name="Text 5"/>
          <p:cNvSpPr/>
          <p:nvPr/>
        </p:nvSpPr>
        <p:spPr>
          <a:xfrm>
            <a:off x="1048124" y="2865537"/>
            <a:ext cx="7315200" cy="20082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70" dirty="0">
                <a:solidFill>
                  <a:srgbClr val="CBD5E1"/>
                </a:solidFill>
              </a:rPr>
              <a:t>• Initializes SubscriberEmails as a string variable.</a:t>
            </a:r>
            <a:endParaRPr lang="en-US" sz="1270" dirty="0"/>
          </a:p>
        </p:txBody>
      </p:sp>
      <p:sp>
        <p:nvSpPr>
          <p:cNvPr id="9" name="Text 6"/>
          <p:cNvSpPr/>
          <p:nvPr/>
        </p:nvSpPr>
        <p:spPr>
          <a:xfrm>
            <a:off x="1048124" y="3368457"/>
            <a:ext cx="7315200" cy="20082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70" dirty="0">
                <a:solidFill>
                  <a:srgbClr val="CBD5E1"/>
                </a:solidFill>
              </a:rPr>
              <a:t>• Appends each active Email with a semicolon separator.</a:t>
            </a:r>
            <a:endParaRPr lang="en-US" sz="1270" dirty="0"/>
          </a:p>
        </p:txBody>
      </p:sp>
      <p:sp>
        <p:nvSpPr>
          <p:cNvPr id="10" name="Text 7"/>
          <p:cNvSpPr/>
          <p:nvPr/>
        </p:nvSpPr>
        <p:spPr>
          <a:xfrm>
            <a:off x="1048124" y="3871377"/>
            <a:ext cx="7315200" cy="20082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70" dirty="0">
                <a:solidFill>
                  <a:srgbClr val="CBD5E1"/>
                </a:solidFill>
              </a:rPr>
              <a:t>• Outlook To field now uses variables(SubscriberEmails).</a:t>
            </a:r>
            <a:endParaRPr lang="en-US" sz="12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82360" y="-92583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FB923C"/>
                </a:solidFill>
              </a:rPr>
              <a:t>CONDITIONAL ROUTING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82360" y="841248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600" b="1" dirty="0">
                <a:solidFill>
                  <a:srgbClr val="F8FAFC"/>
                </a:solidFill>
              </a:rPr>
              <a:t>Notification logic: new reports vs updated reports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28080" y="1231011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94A3B8"/>
                </a:solidFill>
              </a:rPr>
              <a:t>Power Automate + SharePoint + Power BI  |  8</a:t>
            </a:r>
            <a:endParaRPr lang="en-US" sz="850" dirty="0"/>
          </a:p>
        </p:txBody>
      </p:sp>
      <p:pic>
        <p:nvPicPr>
          <p:cNvPr id="5" name="Image 0" descr="/mnt/data/d8456c57-04ac-4f43-9d74-290fd86c8f83.png"/>
          <p:cNvPicPr>
            <a:picLocks noChangeAspect="1"/>
          </p:cNvPicPr>
          <p:nvPr/>
        </p:nvPicPr>
        <p:blipFill>
          <a:blip r:embed="rId3"/>
          <a:srcRect l="2000" r="-7268"/>
          <a:stretch/>
        </p:blipFill>
        <p:spPr>
          <a:xfrm>
            <a:off x="8929295" y="1709927"/>
            <a:ext cx="10599569" cy="91217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6388" y="2842013"/>
            <a:ext cx="374904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r>
              <a:rPr lang="en-US" sz="2000" b="1" dirty="0">
                <a:solidFill>
                  <a:srgbClr val="0EA5E9"/>
                </a:solidFill>
              </a:rPr>
              <a:t>New report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No tracker record → create record → notify subscribers.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559748" y="2842013"/>
            <a:ext cx="374904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r>
              <a:rPr lang="en-US" sz="2000" b="1" dirty="0">
                <a:solidFill>
                  <a:srgbClr val="F97316"/>
                </a:solidFill>
              </a:rPr>
              <a:t>Updated report</a:t>
            </a:r>
            <a:endParaRPr lang="en-US" sz="2000" dirty="0"/>
          </a:p>
          <a:p>
            <a:r>
              <a:rPr lang="en-US" sz="2000" dirty="0">
                <a:solidFill>
                  <a:srgbClr val="CBD5E1"/>
                </a:solidFill>
              </a:rPr>
              <a:t>Same report ID but changed name → update record → notify.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73548" y="4579373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CBD5E1"/>
                </a:solidFill>
              </a:rPr>
              <a:t>If there are no active subscribers, the email action is skipped.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82360" y="-92583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FB923C"/>
                </a:solidFill>
              </a:rPr>
              <a:t>OUTPUT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82360" y="841248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600" b="1" dirty="0">
                <a:solidFill>
                  <a:srgbClr val="F8FAFC"/>
                </a:solidFill>
              </a:rPr>
              <a:t>Result: clean, targeted email notifications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28080" y="1231011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94A3B8"/>
                </a:solidFill>
              </a:rPr>
              <a:t>Power Automate + SharePoint + Power BI  |  9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2832846" y="6883393"/>
            <a:ext cx="7016857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txBody>
          <a:bodyPr wrap="square" lIns="2032" tIns="2032" rIns="2032" bIns="2032" rtlCol="0" anchor="ctr">
            <a:noAutofit/>
          </a:bodyPr>
          <a:lstStyle/>
          <a:p>
            <a:r>
              <a:rPr lang="en-US" sz="2400" b="1" dirty="0">
                <a:solidFill>
                  <a:srgbClr val="22C55E"/>
                </a:solidFill>
              </a:rPr>
              <a:t>Less spam</a:t>
            </a:r>
            <a:endParaRPr lang="en-US" sz="2400" dirty="0"/>
          </a:p>
          <a:p>
            <a:r>
              <a:rPr lang="en-US" sz="2400" dirty="0">
                <a:solidFill>
                  <a:srgbClr val="CBD5E1"/>
                </a:solidFill>
              </a:rPr>
              <a:t>Daily recurrence + change detection prevent repeated notifications.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10481145" y="6792849"/>
            <a:ext cx="7863839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r>
              <a:rPr lang="en-US" sz="2400" b="1" dirty="0">
                <a:solidFill>
                  <a:srgbClr val="F97316"/>
                </a:solidFill>
              </a:rPr>
              <a:t>User-controlled</a:t>
            </a:r>
            <a:endParaRPr lang="en-US" sz="2400" dirty="0"/>
          </a:p>
          <a:p>
            <a:r>
              <a:rPr lang="en-US" sz="2400" dirty="0">
                <a:solidFill>
                  <a:srgbClr val="CBD5E1"/>
                </a:solidFill>
              </a:rPr>
              <a:t>Only active subscribers receive the report alerts.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6365240" y="868680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8FAFC"/>
                </a:solidFill>
              </a:rPr>
              <a:t>Final value delivered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6502400" y="9189720"/>
            <a:ext cx="73152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2400" dirty="0">
                <a:solidFill>
                  <a:srgbClr val="CBD5E1"/>
                </a:solidFill>
              </a:rPr>
              <a:t>• Dynamic audience from SharePoint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6502400" y="9646920"/>
            <a:ext cx="73152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lang="en-US" sz="2400" dirty="0">
                <a:solidFill>
                  <a:srgbClr val="CBD5E1"/>
                </a:solidFill>
              </a:rPr>
              <a:t>• Web app subscription preference integrated with Power Automate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6502400" y="11532870"/>
            <a:ext cx="73152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60" dirty="0">
                <a:solidFill>
                  <a:srgbClr val="CBD5E1"/>
                </a:solidFill>
              </a:rPr>
              <a:t>• Clear flow names and maintainable automation structure</a:t>
            </a:r>
            <a:endParaRPr lang="en-US" sz="126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25EEBE3-8786-4C7E-BB70-DD0CA8BD6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2847" y="1856232"/>
            <a:ext cx="7016857" cy="486460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E3ED3A3-5E14-0A40-3804-F482AB48109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000" t="3894" r="17158"/>
          <a:stretch>
            <a:fillRect/>
          </a:stretch>
        </p:blipFill>
        <p:spPr>
          <a:xfrm>
            <a:off x="10481146" y="1901952"/>
            <a:ext cx="8380595" cy="46268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00320" y="8686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F8FAFC"/>
                </a:solidFill>
              </a:rPr>
              <a:t>From static email alerts to a scalable notification system.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00320" y="22860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rgbClr val="CBD5E1"/>
                </a:solidFill>
              </a:rPr>
              <a:t>Built with Power BI, Power Automate, SharePoint, Outlook, and a Flask web app.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249160" y="4800600"/>
            <a:ext cx="731520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pPr algn="ctr"/>
            <a:endParaRPr lang="en-US" sz="2000"/>
          </a:p>
        </p:txBody>
      </p:sp>
      <p:sp>
        <p:nvSpPr>
          <p:cNvPr id="5" name="Shape 3"/>
          <p:cNvSpPr/>
          <p:nvPr/>
        </p:nvSpPr>
        <p:spPr>
          <a:xfrm>
            <a:off x="9992360" y="4800600"/>
            <a:ext cx="731520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pPr algn="ctr"/>
            <a:endParaRPr lang="en-US" sz="2000"/>
          </a:p>
        </p:txBody>
      </p:sp>
      <p:sp>
        <p:nvSpPr>
          <p:cNvPr id="6" name="Text 4"/>
          <p:cNvSpPr/>
          <p:nvPr/>
        </p:nvSpPr>
        <p:spPr>
          <a:xfrm>
            <a:off x="5328920" y="4434840"/>
            <a:ext cx="1920240" cy="7315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User Preference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980680" y="4434840"/>
            <a:ext cx="2011680" cy="7315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SharePoint Registry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723880" y="4434840"/>
            <a:ext cx="1828800" cy="7315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Report Change Detection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32892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8FAFC"/>
                </a:solidFill>
              </a:rPr>
              <a:t>Key takeaways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20360" y="6812280"/>
            <a:ext cx="73152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CBD5E1"/>
                </a:solidFill>
              </a:rPr>
              <a:t>• Better user experience: opt-in, opt-out, and targeted updates.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20360" y="7406640"/>
            <a:ext cx="73152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algn="ctr"/>
            <a:r>
              <a:rPr lang="en-US" sz="2000" dirty="0">
                <a:solidFill>
                  <a:srgbClr val="CBD5E1"/>
                </a:solidFill>
              </a:rPr>
              <a:t>• Better automation: no hardcoded recipients and clearer flow naming.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20360" y="8001000"/>
            <a:ext cx="73152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CBD5E1"/>
                </a:solidFill>
              </a:rPr>
              <a:t>• Better governance: SharePoint is the source of truth for subscribers.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28920" y="9418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B923C"/>
                </a:solidFill>
              </a:rPr>
              <a:t>Next: production deployment and persistent hosting.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666480" y="1208151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94A3B8"/>
                </a:solidFill>
              </a:rPr>
              <a:t>Power Automate + SharePoint + Power BI  |  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</TotalTime>
  <Words>652</Words>
  <Application>Microsoft Office PowerPoint</Application>
  <PresentationFormat>Custom</PresentationFormat>
  <Paragraphs>115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ITI BI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BI Report Update Notification Automation</dc:title>
  <dc:subject>Power BI Update Notification Automation</dc:subject>
  <dc:creator>OpenAI</dc:creator>
  <cp:lastModifiedBy>معاذ اشرف صبحي توفيق</cp:lastModifiedBy>
  <cp:revision>5</cp:revision>
  <dcterms:created xsi:type="dcterms:W3CDTF">2026-06-05T20:31:00Z</dcterms:created>
  <dcterms:modified xsi:type="dcterms:W3CDTF">2026-06-05T21:05:25Z</dcterms:modified>
</cp:coreProperties>
</file>